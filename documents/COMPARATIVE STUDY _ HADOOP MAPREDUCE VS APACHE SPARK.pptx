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951f83f4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951f83f4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951f83f4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951f83f4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951f83f4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951f83f4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951f83f4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951f83f4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951f83f4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951f83f4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951f83f4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951f83f4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951f83f4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951f83f4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951f83f4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951f83f4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951f83f4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951f83f4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951f83f4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951f83f4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951f83f4c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951f83f4c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951f83f4c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951f83f4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951f83f4c_0_3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951f83f4c_0_5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951f83f4c_0_68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d951f83f4c_7_0)">
  <p:cSld name="Generated (g3d951f83f4c_7_0)">
    <p:spTree>
      <p:nvGrpSpPr>
        <p:cNvPr id="82" name="Shape 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kaggle.com/c/ieee-fraud-detection/dat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COMPARATIVE STUDY : HADOOP MAPREDUCE VS APACHE SPARK</a:t>
            </a:r>
            <a:endParaRPr/>
          </a:p>
        </p:txBody>
      </p:sp>
      <p:sp>
        <p:nvSpPr>
          <p:cNvPr id="88" name="Google Shape;88;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Performance Analysis on the IEEE-CIS Fraud Detection Dataset</a:t>
            </a:r>
            <a:endParaRPr/>
          </a:p>
        </p:txBody>
      </p:sp>
      <p:sp>
        <p:nvSpPr>
          <p:cNvPr id="89" name="Google Shape;89;p14"/>
          <p:cNvSpPr txBox="1"/>
          <p:nvPr>
            <p:ph idx="1" type="subTitle"/>
          </p:nvPr>
        </p:nvSpPr>
        <p:spPr>
          <a:xfrm>
            <a:off x="821500" y="3899850"/>
            <a:ext cx="7688100" cy="107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Course:</a:t>
            </a:r>
            <a:r>
              <a:rPr lang="en"/>
              <a:t> Big Data Essential</a:t>
            </a:r>
            <a:endParaRPr/>
          </a:p>
          <a:p>
            <a:pPr indent="0" lvl="0" marL="0" rtl="0" algn="l">
              <a:spcBef>
                <a:spcPts val="0"/>
              </a:spcBef>
              <a:spcAft>
                <a:spcPts val="0"/>
              </a:spcAft>
              <a:buNone/>
            </a:pPr>
            <a:r>
              <a:rPr b="1" lang="en"/>
              <a:t>Lecturer: </a:t>
            </a:r>
            <a:r>
              <a:rPr lang="en"/>
              <a:t>Kundan Kumar</a:t>
            </a:r>
            <a:endParaRPr/>
          </a:p>
          <a:p>
            <a:pPr indent="0" lvl="0" marL="0" rtl="0" algn="l">
              <a:spcBef>
                <a:spcPts val="0"/>
              </a:spcBef>
              <a:spcAft>
                <a:spcPts val="0"/>
              </a:spcAft>
              <a:buNone/>
            </a:pPr>
            <a:r>
              <a:rPr b="1" lang="en"/>
              <a:t>Link to project code: </a:t>
            </a:r>
            <a:r>
              <a:rPr lang="en"/>
              <a:t>https://github.com/Elthiero/fintech-hadoop-spark-comparison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95" name="Google Shape;95;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romanUcPeriod"/>
            </a:pPr>
            <a:r>
              <a:rPr lang="en" sz="1800"/>
              <a:t>INTRODUCTION</a:t>
            </a:r>
            <a:endParaRPr sz="1800"/>
          </a:p>
          <a:p>
            <a:pPr indent="-342900" lvl="0" marL="457200" rtl="0" algn="l">
              <a:spcBef>
                <a:spcPts val="0"/>
              </a:spcBef>
              <a:spcAft>
                <a:spcPts val="0"/>
              </a:spcAft>
              <a:buSzPts val="1800"/>
              <a:buAutoNum type="romanUcPeriod"/>
            </a:pPr>
            <a:r>
              <a:rPr lang="en" sz="1800"/>
              <a:t>HARDWARE &amp; ENVIRONMENT SETUP</a:t>
            </a:r>
            <a:endParaRPr sz="1800"/>
          </a:p>
          <a:p>
            <a:pPr indent="-342900" lvl="0" marL="457200" rtl="0" algn="l">
              <a:spcBef>
                <a:spcPts val="0"/>
              </a:spcBef>
              <a:spcAft>
                <a:spcPts val="0"/>
              </a:spcAft>
              <a:buSzPts val="1800"/>
              <a:buAutoNum type="romanUcPeriod"/>
            </a:pPr>
            <a:r>
              <a:rPr lang="en" sz="1800"/>
              <a:t>DATASET DESCRIPTION</a:t>
            </a:r>
            <a:endParaRPr sz="1800"/>
          </a:p>
          <a:p>
            <a:pPr indent="-342900" lvl="0" marL="457200" rtl="0" algn="l">
              <a:spcBef>
                <a:spcPts val="0"/>
              </a:spcBef>
              <a:spcAft>
                <a:spcPts val="0"/>
              </a:spcAft>
              <a:buSzPts val="1800"/>
              <a:buAutoNum type="romanUcPeriod"/>
            </a:pPr>
            <a:r>
              <a:rPr lang="en" sz="1800"/>
              <a:t>ANALYSIS USING MAPREDUCE</a:t>
            </a:r>
            <a:endParaRPr sz="1800"/>
          </a:p>
          <a:p>
            <a:pPr indent="-342900" lvl="0" marL="457200" rtl="0" algn="l">
              <a:spcBef>
                <a:spcPts val="0"/>
              </a:spcBef>
              <a:spcAft>
                <a:spcPts val="0"/>
              </a:spcAft>
              <a:buSzPts val="1800"/>
              <a:buAutoNum type="romanUcPeriod"/>
            </a:pPr>
            <a:r>
              <a:rPr lang="en" sz="1800"/>
              <a:t>ANALYSIS USING SPARK</a:t>
            </a:r>
            <a:endParaRPr sz="1800"/>
          </a:p>
          <a:p>
            <a:pPr indent="-342900" lvl="0" marL="457200" rtl="0" algn="l">
              <a:spcBef>
                <a:spcPts val="0"/>
              </a:spcBef>
              <a:spcAft>
                <a:spcPts val="0"/>
              </a:spcAft>
              <a:buSzPts val="1800"/>
              <a:buAutoNum type="romanUcPeriod"/>
            </a:pPr>
            <a:r>
              <a:rPr lang="en" sz="1800"/>
              <a:t>COMPARISON ANALYSIS</a:t>
            </a:r>
            <a:endParaRPr sz="1800"/>
          </a:p>
          <a:p>
            <a:pPr indent="-342900" lvl="0" marL="457200" rtl="0" algn="l">
              <a:spcBef>
                <a:spcPts val="0"/>
              </a:spcBef>
              <a:spcAft>
                <a:spcPts val="0"/>
              </a:spcAft>
              <a:buSzPts val="1800"/>
              <a:buAutoNum type="romanUcPeriod"/>
            </a:pPr>
            <a:r>
              <a:rPr lang="en" sz="1800"/>
              <a:t>FINAL INSIGHTS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00000"/>
              <a:buAutoNum type="romanUcPeriod"/>
            </a:pPr>
            <a:r>
              <a:rPr lang="en"/>
              <a:t>INTRODUCTION</a:t>
            </a:r>
            <a:endParaRPr/>
          </a:p>
        </p:txBody>
      </p:sp>
      <p:sp>
        <p:nvSpPr>
          <p:cNvPr id="101" name="Google Shape;101;p16"/>
          <p:cNvSpPr txBox="1"/>
          <p:nvPr>
            <p:ph idx="1" type="body"/>
          </p:nvPr>
        </p:nvSpPr>
        <p:spPr>
          <a:xfrm>
            <a:off x="729450" y="2078875"/>
            <a:ext cx="7688700" cy="27168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 sz="1600"/>
              <a:t>The primary objective of this project is to</a:t>
            </a:r>
            <a:r>
              <a:rPr b="1" lang="en" sz="1600"/>
              <a:t> process a real-world financial dataset</a:t>
            </a:r>
            <a:r>
              <a:rPr lang="en" sz="1600"/>
              <a:t> using two dominant Big Data frameworks: </a:t>
            </a:r>
            <a:r>
              <a:rPr b="1" lang="en" sz="1600"/>
              <a:t>Apache Hadoop</a:t>
            </a:r>
            <a:r>
              <a:rPr lang="en" sz="1600"/>
              <a:t> (via MapReduce) and </a:t>
            </a:r>
            <a:r>
              <a:rPr b="1" lang="en" sz="1600"/>
              <a:t>Apache Spark</a:t>
            </a:r>
            <a:r>
              <a:rPr lang="en" sz="1600"/>
              <a:t> (viaPySpark). By executing identical aggregation and profiling logic across both paradigms, we aim to generate </a:t>
            </a:r>
            <a:r>
              <a:rPr b="1" lang="en" sz="1600"/>
              <a:t>actionable insights</a:t>
            </a:r>
            <a:r>
              <a:rPr lang="en" sz="1600"/>
              <a:t> while </a:t>
            </a:r>
            <a:r>
              <a:rPr b="1" lang="en" sz="1600"/>
              <a:t>critically comparing</a:t>
            </a:r>
            <a:r>
              <a:rPr lang="en" sz="1600"/>
              <a:t> the frameworks based on </a:t>
            </a:r>
            <a:r>
              <a:rPr b="1" lang="en" sz="1600"/>
              <a:t>performance,</a:t>
            </a:r>
            <a:r>
              <a:rPr lang="en" sz="1600"/>
              <a:t> </a:t>
            </a:r>
            <a:r>
              <a:rPr b="1" lang="en" sz="1600"/>
              <a:t>code complexity</a:t>
            </a:r>
            <a:r>
              <a:rPr lang="en" sz="1600"/>
              <a:t>, </a:t>
            </a:r>
            <a:r>
              <a:rPr b="1" lang="en" sz="1600"/>
              <a:t>usability</a:t>
            </a:r>
            <a:r>
              <a:rPr lang="en" sz="1600"/>
              <a:t>, and underlying </a:t>
            </a:r>
            <a:r>
              <a:rPr b="1" lang="en" sz="1600"/>
              <a:t>processing models</a:t>
            </a:r>
            <a:r>
              <a:rPr lang="en" sz="1600"/>
              <a:t>.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 </a:t>
            </a:r>
            <a:r>
              <a:rPr lang="en"/>
              <a:t>HARDWARE &amp; ENVIRONMENT SETUP</a:t>
            </a:r>
            <a:endParaRPr/>
          </a:p>
        </p:txBody>
      </p:sp>
      <p:sp>
        <p:nvSpPr>
          <p:cNvPr id="107" name="Google Shape;107;p17"/>
          <p:cNvSpPr txBox="1"/>
          <p:nvPr>
            <p:ph idx="1" type="body"/>
          </p:nvPr>
        </p:nvSpPr>
        <p:spPr>
          <a:xfrm>
            <a:off x="729450" y="2078875"/>
            <a:ext cx="7688700" cy="25806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800"/>
              <a:t>To ensure an accurate performance comparison, both frameworks were executed locally on a single-node Windows pseudo-distributed cluster.</a:t>
            </a:r>
            <a:endParaRPr sz="1800"/>
          </a:p>
          <a:p>
            <a:pPr indent="-342900" lvl="0" marL="457200" rtl="0" algn="just">
              <a:spcBef>
                <a:spcPts val="1200"/>
              </a:spcBef>
              <a:spcAft>
                <a:spcPts val="0"/>
              </a:spcAft>
              <a:buSzPts val="1800"/>
              <a:buChar char="➢"/>
            </a:pPr>
            <a:r>
              <a:rPr b="1" lang="en" sz="1800"/>
              <a:t>System Model:</a:t>
            </a:r>
            <a:r>
              <a:rPr lang="en" sz="1800"/>
              <a:t> HP Laptop 15-da2xxx</a:t>
            </a:r>
            <a:endParaRPr sz="1800"/>
          </a:p>
          <a:p>
            <a:pPr indent="-342900" lvl="0" marL="457200" rtl="0" algn="just">
              <a:spcBef>
                <a:spcPts val="0"/>
              </a:spcBef>
              <a:spcAft>
                <a:spcPts val="0"/>
              </a:spcAft>
              <a:buSzPts val="1800"/>
              <a:buChar char="➢"/>
            </a:pPr>
            <a:r>
              <a:rPr b="1" lang="en" sz="1800"/>
              <a:t>Processor:</a:t>
            </a:r>
            <a:r>
              <a:rPr lang="en" sz="1800"/>
              <a:t> Intel® Core™ i7-10510U CPU @ 1.80GHz (8 CPUs)</a:t>
            </a:r>
            <a:endParaRPr sz="1800"/>
          </a:p>
          <a:p>
            <a:pPr indent="-342900" lvl="0" marL="457200" rtl="0" algn="just">
              <a:spcBef>
                <a:spcPts val="0"/>
              </a:spcBef>
              <a:spcAft>
                <a:spcPts val="0"/>
              </a:spcAft>
              <a:buSzPts val="1800"/>
              <a:buChar char="➢"/>
            </a:pPr>
            <a:r>
              <a:rPr b="1" lang="en" sz="1800"/>
              <a:t>Memory:</a:t>
            </a:r>
            <a:r>
              <a:rPr lang="en" sz="1800"/>
              <a:t> 16 GB RAM</a:t>
            </a:r>
            <a:endParaRPr sz="1800"/>
          </a:p>
          <a:p>
            <a:pPr indent="-342900" lvl="0" marL="457200" rtl="0" algn="just">
              <a:spcBef>
                <a:spcPts val="0"/>
              </a:spcBef>
              <a:spcAft>
                <a:spcPts val="0"/>
              </a:spcAft>
              <a:buSzPts val="1800"/>
              <a:buChar char="➢"/>
            </a:pPr>
            <a:r>
              <a:rPr b="1" lang="en" sz="1800"/>
              <a:t>Operating System:</a:t>
            </a:r>
            <a:r>
              <a:rPr lang="en" sz="1800"/>
              <a:t> Windows 11 Pro 64-bit</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III. </a:t>
            </a:r>
            <a:r>
              <a:rPr lang="en"/>
              <a:t>DATASET DESCRIPTION</a:t>
            </a:r>
            <a:endParaRPr/>
          </a:p>
        </p:txBody>
      </p:sp>
      <p:sp>
        <p:nvSpPr>
          <p:cNvPr id="113" name="Google Shape;113;p18"/>
          <p:cNvSpPr txBox="1"/>
          <p:nvPr>
            <p:ph idx="1" type="body"/>
          </p:nvPr>
        </p:nvSpPr>
        <p:spPr>
          <a:xfrm>
            <a:off x="729450" y="1853850"/>
            <a:ext cx="7688700" cy="3123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600"/>
              <a:t>The analysis utilizes the IEEE-CIS Fraud Detection dataset, originally provided by Vesta Corporation via Kaggle, with a total size: 1.2 GB (Uncompressed). We will use train_transaction.csv (667 MB), the main transaction data(394 columns and 590,540 rows).</a:t>
            </a:r>
            <a:endParaRPr sz="1600"/>
          </a:p>
          <a:p>
            <a:pPr indent="0" lvl="0" marL="0" rtl="0" algn="just">
              <a:spcBef>
                <a:spcPts val="1200"/>
              </a:spcBef>
              <a:spcAft>
                <a:spcPts val="0"/>
              </a:spcAft>
              <a:buNone/>
            </a:pPr>
            <a:r>
              <a:rPr lang="en" sz="1600"/>
              <a:t>Link to dataset: </a:t>
            </a:r>
            <a:r>
              <a:rPr lang="en" sz="1600" u="sng">
                <a:solidFill>
                  <a:schemeClr val="hlink"/>
                </a:solidFill>
                <a:hlinkClick r:id="rId3"/>
              </a:rPr>
              <a:t>https://www.kaggle.com/c/ieee-fraud-detection/data</a:t>
            </a:r>
            <a:endParaRPr sz="1600"/>
          </a:p>
          <a:p>
            <a:pPr indent="0" lvl="0" marL="0" rtl="0" algn="just">
              <a:spcBef>
                <a:spcPts val="1200"/>
              </a:spcBef>
              <a:spcAft>
                <a:spcPts val="0"/>
              </a:spcAft>
              <a:buNone/>
            </a:pPr>
            <a:r>
              <a:rPr lang="en" sz="1600"/>
              <a:t>We will analyze the </a:t>
            </a:r>
            <a:r>
              <a:rPr b="1" lang="en" sz="1600"/>
              <a:t>Transaction Health by Card Network</a:t>
            </a:r>
            <a:r>
              <a:rPr lang="en" sz="1600"/>
              <a:t> by calculating:</a:t>
            </a:r>
            <a:endParaRPr sz="1600"/>
          </a:p>
          <a:p>
            <a:pPr indent="-330200" lvl="0" marL="457200" rtl="0" algn="just">
              <a:spcBef>
                <a:spcPts val="1200"/>
              </a:spcBef>
              <a:spcAft>
                <a:spcPts val="0"/>
              </a:spcAft>
              <a:buSzPts val="1600"/>
              <a:buChar char="➢"/>
            </a:pPr>
            <a:r>
              <a:rPr b="1" lang="en" sz="1600"/>
              <a:t>Total transaction volume</a:t>
            </a:r>
            <a:endParaRPr b="1" sz="1600"/>
          </a:p>
          <a:p>
            <a:pPr indent="-330200" lvl="0" marL="457200" rtl="0" algn="just">
              <a:spcBef>
                <a:spcPts val="0"/>
              </a:spcBef>
              <a:spcAft>
                <a:spcPts val="0"/>
              </a:spcAft>
              <a:buSzPts val="1600"/>
              <a:buChar char="➢"/>
            </a:pPr>
            <a:r>
              <a:rPr b="1" lang="en" sz="1600"/>
              <a:t>Average transaction amount</a:t>
            </a:r>
            <a:endParaRPr b="1" sz="1600"/>
          </a:p>
          <a:p>
            <a:pPr indent="-330200" lvl="0" marL="457200" rtl="0" algn="just">
              <a:spcBef>
                <a:spcPts val="0"/>
              </a:spcBef>
              <a:spcAft>
                <a:spcPts val="0"/>
              </a:spcAft>
              <a:buSzPts val="1600"/>
              <a:buChar char="➢"/>
            </a:pPr>
            <a:r>
              <a:rPr b="1" lang="en" sz="1600"/>
              <a:t>Fraud percentage</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III. DATASET DESCRIPTION (Continued)</a:t>
            </a:r>
            <a:endParaRPr/>
          </a:p>
          <a:p>
            <a:pPr indent="0" lvl="0" marL="0" rtl="0" algn="l">
              <a:spcBef>
                <a:spcPts val="0"/>
              </a:spcBef>
              <a:spcAft>
                <a:spcPts val="0"/>
              </a:spcAft>
              <a:buNone/>
            </a:pPr>
            <a:r>
              <a:t/>
            </a:r>
            <a:endParaRPr/>
          </a:p>
        </p:txBody>
      </p:sp>
      <p:sp>
        <p:nvSpPr>
          <p:cNvPr id="119" name="Google Shape;119;p19"/>
          <p:cNvSpPr txBox="1"/>
          <p:nvPr>
            <p:ph idx="1" type="body"/>
          </p:nvPr>
        </p:nvSpPr>
        <p:spPr>
          <a:xfrm>
            <a:off x="729450" y="1785100"/>
            <a:ext cx="7688700" cy="318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600"/>
              <a:t>We will focus on these columns for the analysis:</a:t>
            </a:r>
            <a:endParaRPr sz="1600"/>
          </a:p>
          <a:p>
            <a:pPr indent="-330200" lvl="0" marL="457200" rtl="0" algn="just">
              <a:spcBef>
                <a:spcPts val="1200"/>
              </a:spcBef>
              <a:spcAft>
                <a:spcPts val="0"/>
              </a:spcAft>
              <a:buSzPts val="1600"/>
              <a:buChar char="➢"/>
            </a:pPr>
            <a:r>
              <a:rPr b="1" lang="en" sz="1600"/>
              <a:t>TransactionID</a:t>
            </a:r>
            <a:r>
              <a:rPr lang="en" sz="1600"/>
              <a:t>: Unique ID for each row, primary Key for Joining</a:t>
            </a:r>
            <a:endParaRPr sz="1600"/>
          </a:p>
          <a:p>
            <a:pPr indent="-330200" lvl="0" marL="457200" rtl="0" algn="just">
              <a:spcBef>
                <a:spcPts val="0"/>
              </a:spcBef>
              <a:spcAft>
                <a:spcPts val="0"/>
              </a:spcAft>
              <a:buSzPts val="1600"/>
              <a:buChar char="➢"/>
            </a:pPr>
            <a:r>
              <a:rPr b="1" lang="en" sz="1600"/>
              <a:t>isFraud</a:t>
            </a:r>
            <a:r>
              <a:rPr lang="en" sz="1600"/>
              <a:t>: Binary (0 = Legit, 1 = Fraud), target Variable for risk profiling</a:t>
            </a:r>
            <a:endParaRPr sz="1600"/>
          </a:p>
          <a:p>
            <a:pPr indent="-330200" lvl="0" marL="457200" rtl="0" algn="just">
              <a:spcBef>
                <a:spcPts val="0"/>
              </a:spcBef>
              <a:spcAft>
                <a:spcPts val="0"/>
              </a:spcAft>
              <a:buSzPts val="1600"/>
              <a:buChar char="➢"/>
            </a:pPr>
            <a:r>
              <a:rPr b="1" lang="en" sz="1600"/>
              <a:t>TransactionAmt</a:t>
            </a:r>
            <a:r>
              <a:rPr lang="en" sz="1600"/>
              <a:t>: Transaction Amount (USD), main Metric for Aggregation</a:t>
            </a:r>
            <a:endParaRPr sz="1600"/>
          </a:p>
          <a:p>
            <a:pPr indent="-330200" lvl="0" marL="457200" rtl="0" algn="just">
              <a:spcBef>
                <a:spcPts val="0"/>
              </a:spcBef>
              <a:spcAft>
                <a:spcPts val="0"/>
              </a:spcAft>
              <a:buSzPts val="1600"/>
              <a:buChar char="➢"/>
            </a:pPr>
            <a:r>
              <a:rPr b="1" lang="en" sz="1600"/>
              <a:t>card4</a:t>
            </a:r>
            <a:r>
              <a:rPr lang="en" sz="1600"/>
              <a:t>: Card Network (Visa, Mastercard), grouping Category</a:t>
            </a:r>
            <a:endParaRPr sz="1600"/>
          </a:p>
          <a:p>
            <a:pPr indent="0" lvl="0" marL="0" rtl="0" algn="just">
              <a:spcBef>
                <a:spcPts val="1200"/>
              </a:spcBef>
              <a:spcAft>
                <a:spcPts val="0"/>
              </a:spcAft>
              <a:buNone/>
            </a:pPr>
            <a:r>
              <a:rPr b="1" lang="en" sz="1600"/>
              <a:t>Data Ingestion Strategy (Schema-on-Read): </a:t>
            </a:r>
            <a:r>
              <a:rPr lang="en" sz="1600"/>
              <a:t>The raw, train transaction.csv (667 MB) file was uploaded directly to HDFS. The parsing, filtering, and schema application were deferred entirely to the distributed processing engines.</a:t>
            </a:r>
            <a:endParaRPr sz="1600"/>
          </a:p>
          <a:p>
            <a:pPr indent="0" lvl="0" marL="0" rtl="0" algn="just">
              <a:spcBef>
                <a:spcPts val="1200"/>
              </a:spcBef>
              <a:spcAft>
                <a:spcPts val="1200"/>
              </a:spcAft>
              <a:buNone/>
            </a:pPr>
            <a:r>
              <a:rPr lang="en" sz="1600"/>
              <a:t>We uploaded and created  required files, and directories.</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Figure 1: Listing directories and files on hdfs.</a:t>
            </a:r>
            <a:endParaRPr b="1"/>
          </a:p>
        </p:txBody>
      </p:sp>
      <p:pic>
        <p:nvPicPr>
          <p:cNvPr id="125" name="Google Shape;125;p20" title="directories.png"/>
          <p:cNvPicPr preferRelativeResize="0"/>
          <p:nvPr/>
        </p:nvPicPr>
        <p:blipFill>
          <a:blip r:embed="rId3">
            <a:alphaModFix/>
          </a:blip>
          <a:stretch>
            <a:fillRect/>
          </a:stretch>
        </p:blipFill>
        <p:spPr>
          <a:xfrm>
            <a:off x="436000" y="782125"/>
            <a:ext cx="8272000" cy="3035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IV. </a:t>
            </a:r>
            <a:r>
              <a:rPr lang="en"/>
              <a:t>ANALYSIS USING MAPREDUCE</a:t>
            </a:r>
            <a:endParaRPr/>
          </a:p>
        </p:txBody>
      </p:sp>
      <p:sp>
        <p:nvSpPr>
          <p:cNvPr id="131" name="Google Shape;131;p21"/>
          <p:cNvSpPr txBox="1"/>
          <p:nvPr>
            <p:ph idx="1" type="body"/>
          </p:nvPr>
        </p:nvSpPr>
        <p:spPr>
          <a:xfrm>
            <a:off x="729450" y="1853850"/>
            <a:ext cx="7688700" cy="30780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1018"/>
              <a:buNone/>
            </a:pPr>
            <a:r>
              <a:rPr lang="en" sz="1603"/>
              <a:t>The first implementation utilized Hadoop Streaming to execute custom Python scripts across the YARN resource manager.</a:t>
            </a:r>
            <a:endParaRPr sz="1603"/>
          </a:p>
          <a:p>
            <a:pPr indent="0" lvl="0" marL="0" rtl="0" algn="just">
              <a:lnSpc>
                <a:spcPct val="105000"/>
              </a:lnSpc>
              <a:spcBef>
                <a:spcPts val="1200"/>
              </a:spcBef>
              <a:spcAft>
                <a:spcPts val="0"/>
              </a:spcAft>
              <a:buSzPts val="1018"/>
              <a:buNone/>
            </a:pPr>
            <a:r>
              <a:rPr b="1" lang="en" sz="1603"/>
              <a:t>Mapper</a:t>
            </a:r>
            <a:r>
              <a:rPr lang="en" sz="1603"/>
              <a:t>: Implemented dynamic column indexing by reading the CSV header on the fly. It utilized a try/except block to extract </a:t>
            </a:r>
            <a:r>
              <a:rPr b="1" lang="en" sz="1603"/>
              <a:t>card4</a:t>
            </a:r>
            <a:r>
              <a:rPr lang="en" sz="1603"/>
              <a:t>, </a:t>
            </a:r>
            <a:r>
              <a:rPr b="1" lang="en" sz="1603"/>
              <a:t>TransactionAmt</a:t>
            </a:r>
            <a:r>
              <a:rPr lang="en" sz="1603"/>
              <a:t>, and </a:t>
            </a:r>
            <a:r>
              <a:rPr b="1" lang="en" sz="1603"/>
              <a:t>isFraud</a:t>
            </a:r>
            <a:r>
              <a:rPr lang="en" sz="1603"/>
              <a:t>. Missing card values were dynamically imputed as ’unknown’.</a:t>
            </a:r>
            <a:endParaRPr sz="1603"/>
          </a:p>
          <a:p>
            <a:pPr indent="0" lvl="0" marL="0" rtl="0" algn="just">
              <a:lnSpc>
                <a:spcPct val="105000"/>
              </a:lnSpc>
              <a:spcBef>
                <a:spcPts val="1200"/>
              </a:spcBef>
              <a:spcAft>
                <a:spcPts val="0"/>
              </a:spcAft>
              <a:buSzPts val="1018"/>
              <a:buNone/>
            </a:pPr>
            <a:r>
              <a:rPr b="1" lang="en" sz="1603"/>
              <a:t>Reducer</a:t>
            </a:r>
            <a:r>
              <a:rPr lang="en" sz="1603"/>
              <a:t>: Aggregated the shuffled keys, maintaining a running sum of total amounts, transaction counts, and fraud cases to calculate the final averages and fraud rates.</a:t>
            </a:r>
            <a:endParaRPr sz="1603"/>
          </a:p>
          <a:p>
            <a:pPr indent="0" lvl="0" marL="0" rtl="0" algn="just">
              <a:lnSpc>
                <a:spcPct val="105000"/>
              </a:lnSpc>
              <a:spcBef>
                <a:spcPts val="1200"/>
              </a:spcBef>
              <a:spcAft>
                <a:spcPts val="1200"/>
              </a:spcAft>
              <a:buSzPts val="1018"/>
              <a:buNone/>
            </a:pPr>
            <a:r>
              <a:rPr lang="en" sz="1603"/>
              <a:t>The job was submitted to the cluster using the hadoop-streaming utility. The YARN ResourceManager successfully allocated splits, surviving multiple task fetch failures via its built-in fault tolerance.</a:t>
            </a:r>
            <a:endParaRPr sz="1603"/>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Figure 2: Verification of active cluster nodes and HDFS health.</a:t>
            </a:r>
            <a:endParaRPr b="1"/>
          </a:p>
        </p:txBody>
      </p:sp>
      <p:pic>
        <p:nvPicPr>
          <p:cNvPr id="137" name="Google Shape;137;p22" title="mapreduce_info.png"/>
          <p:cNvPicPr preferRelativeResize="0"/>
          <p:nvPr/>
        </p:nvPicPr>
        <p:blipFill>
          <a:blip r:embed="rId3">
            <a:alphaModFix/>
          </a:blip>
          <a:stretch>
            <a:fillRect/>
          </a:stretch>
        </p:blipFill>
        <p:spPr>
          <a:xfrm>
            <a:off x="431013" y="152400"/>
            <a:ext cx="8285275" cy="4067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 </a:t>
            </a:r>
            <a:r>
              <a:rPr lang="en"/>
              <a:t>ANALYSIS USING SPARK (PySpark)</a:t>
            </a:r>
            <a:endParaRPr/>
          </a:p>
        </p:txBody>
      </p:sp>
      <p:sp>
        <p:nvSpPr>
          <p:cNvPr id="143" name="Google Shape;143;p23"/>
          <p:cNvSpPr txBox="1"/>
          <p:nvPr>
            <p:ph idx="1" type="body"/>
          </p:nvPr>
        </p:nvSpPr>
        <p:spPr>
          <a:xfrm>
            <a:off x="729450" y="1853850"/>
            <a:ext cx="7688700" cy="318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605"/>
              <a:buNone/>
            </a:pPr>
            <a:r>
              <a:rPr lang="en" sz="1515"/>
              <a:t>The second implementation accessed the exact same 667 MB raw CSV directly from HDFS using Apache Spark’s DataFrame API. Unlike MapReduce, Spark’s robust native CSV parser automatically handled quoted delimiters and inferred the schema across all 394 columns dynamically. The aggregation logic was condensed into a single functional block:</a:t>
            </a:r>
            <a:endParaRPr sz="1515"/>
          </a:p>
          <a:p>
            <a:pPr indent="0" lvl="0" marL="0" rtl="0" algn="just">
              <a:lnSpc>
                <a:spcPct val="100000"/>
              </a:lnSpc>
              <a:spcBef>
                <a:spcPts val="1200"/>
              </a:spcBef>
              <a:spcAft>
                <a:spcPts val="0"/>
              </a:spcAft>
              <a:buSzPts val="605"/>
              <a:buNone/>
            </a:pPr>
            <a:r>
              <a:rPr b="1" i="1" lang="en" sz="1515"/>
              <a:t>result = df.groupBy("card4").agg(</a:t>
            </a:r>
            <a:endParaRPr b="1" i="1" sz="1515"/>
          </a:p>
          <a:p>
            <a:pPr indent="0" lvl="0" marL="0" rtl="0" algn="just">
              <a:lnSpc>
                <a:spcPct val="100000"/>
              </a:lnSpc>
              <a:spcBef>
                <a:spcPts val="1200"/>
              </a:spcBef>
              <a:spcAft>
                <a:spcPts val="0"/>
              </a:spcAft>
              <a:buSzPts val="605"/>
              <a:buNone/>
            </a:pPr>
            <a:r>
              <a:rPr b="1" i="1" lang="en" sz="1515"/>
              <a:t>	sum("TransactionAmt").alias("Total Amount"),</a:t>
            </a:r>
            <a:endParaRPr b="1" i="1" sz="1515"/>
          </a:p>
          <a:p>
            <a:pPr indent="0" lvl="0" marL="0" rtl="0" algn="just">
              <a:lnSpc>
                <a:spcPct val="100000"/>
              </a:lnSpc>
              <a:spcBef>
                <a:spcPts val="1200"/>
              </a:spcBef>
              <a:spcAft>
                <a:spcPts val="0"/>
              </a:spcAft>
              <a:buSzPts val="605"/>
              <a:buNone/>
            </a:pPr>
            <a:r>
              <a:rPr b="1" i="1" lang="en" sz="1515"/>
              <a:t>	avg("TransactionAmt").alias("Average Amount"),</a:t>
            </a:r>
            <a:endParaRPr b="1" i="1" sz="1515"/>
          </a:p>
          <a:p>
            <a:pPr indent="0" lvl="0" marL="0" rtl="0" algn="just">
              <a:lnSpc>
                <a:spcPct val="100000"/>
              </a:lnSpc>
              <a:spcBef>
                <a:spcPts val="1200"/>
              </a:spcBef>
              <a:spcAft>
                <a:spcPts val="0"/>
              </a:spcAft>
              <a:buSzPts val="605"/>
              <a:buNone/>
            </a:pPr>
            <a:r>
              <a:rPr b="1" i="1" lang="en" sz="1515"/>
              <a:t>	round((count(when(col("isFraud")==1,True))/count("*")* 100),2).alias("Fraud (%)")</a:t>
            </a:r>
            <a:endParaRPr b="1" i="1" sz="1515"/>
          </a:p>
          <a:p>
            <a:pPr indent="0" lvl="0" marL="0" rtl="0" algn="just">
              <a:lnSpc>
                <a:spcPct val="100000"/>
              </a:lnSpc>
              <a:spcBef>
                <a:spcPts val="1200"/>
              </a:spcBef>
              <a:spcAft>
                <a:spcPts val="1200"/>
              </a:spcAft>
              <a:buSzPts val="605"/>
              <a:buNone/>
            </a:pPr>
            <a:r>
              <a:rPr b="1" i="1" lang="en" sz="1515"/>
              <a:t>	)</a:t>
            </a:r>
            <a:endParaRPr b="1" i="1" sz="151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Figure 3: PySpark output.</a:t>
            </a:r>
            <a:endParaRPr b="1"/>
          </a:p>
        </p:txBody>
      </p:sp>
      <p:pic>
        <p:nvPicPr>
          <p:cNvPr id="149" name="Google Shape;149;p24" title="pyspark.png"/>
          <p:cNvPicPr preferRelativeResize="0"/>
          <p:nvPr/>
        </p:nvPicPr>
        <p:blipFill>
          <a:blip r:embed="rId3">
            <a:alphaModFix/>
          </a:blip>
          <a:stretch>
            <a:fillRect/>
          </a:stretch>
        </p:blipFill>
        <p:spPr>
          <a:xfrm>
            <a:off x="152400" y="152400"/>
            <a:ext cx="8839200" cy="36240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 COMPARISON ANALYSIS</a:t>
            </a:r>
            <a:endParaRPr/>
          </a:p>
        </p:txBody>
      </p:sp>
      <p:sp>
        <p:nvSpPr>
          <p:cNvPr id="155" name="Google Shape;155;p25"/>
          <p:cNvSpPr txBox="1"/>
          <p:nvPr>
            <p:ph idx="1" type="body"/>
          </p:nvPr>
        </p:nvSpPr>
        <p:spPr>
          <a:xfrm>
            <a:off x="92800" y="1853875"/>
            <a:ext cx="4410900" cy="3223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b="1" lang="en" sz="1600"/>
              <a:t>Performance:</a:t>
            </a:r>
            <a:endParaRPr b="1" sz="1600"/>
          </a:p>
          <a:p>
            <a:pPr indent="0" lvl="0" marL="0" rtl="0" algn="just">
              <a:spcBef>
                <a:spcPts val="1200"/>
              </a:spcBef>
              <a:spcAft>
                <a:spcPts val="1200"/>
              </a:spcAft>
              <a:buNone/>
            </a:pPr>
            <a:r>
              <a:rPr lang="en" sz="1600"/>
              <a:t>The most dramatic difference observed was in execution time. Processing the raw 667 MB dataset took MapReduce exactly </a:t>
            </a:r>
            <a:r>
              <a:rPr b="1" lang="en" sz="1600"/>
              <a:t>2 minutes and 34 seconds (154 seconds)</a:t>
            </a:r>
            <a:r>
              <a:rPr lang="en" sz="1600"/>
              <a:t> due to the </a:t>
            </a:r>
            <a:r>
              <a:rPr b="1" lang="en" sz="1600"/>
              <a:t>heavy disk I/O required between the Map, Shuffle, and Reduce phases</a:t>
            </a:r>
            <a:r>
              <a:rPr lang="en" sz="1600"/>
              <a:t>. Apache Spark processed and parsed the entire raw dataset in just </a:t>
            </a:r>
            <a:r>
              <a:rPr b="1" lang="en" sz="1600"/>
              <a:t>24.47 seconds</a:t>
            </a:r>
            <a:r>
              <a:rPr lang="en" sz="1600"/>
              <a:t> by executing the </a:t>
            </a:r>
            <a:r>
              <a:rPr b="1" lang="en" sz="1600"/>
              <a:t>logical DAG in-memory.</a:t>
            </a:r>
            <a:endParaRPr b="1" sz="1600"/>
          </a:p>
        </p:txBody>
      </p:sp>
      <p:sp>
        <p:nvSpPr>
          <p:cNvPr id="156" name="Google Shape;156;p25"/>
          <p:cNvSpPr txBox="1"/>
          <p:nvPr>
            <p:ph idx="2" type="body"/>
          </p:nvPr>
        </p:nvSpPr>
        <p:spPr>
          <a:xfrm>
            <a:off x="4643600" y="1853850"/>
            <a:ext cx="4410900" cy="322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7" name="Google Shape;157;p25" title="graph.png"/>
          <p:cNvPicPr preferRelativeResize="0"/>
          <p:nvPr/>
        </p:nvPicPr>
        <p:blipFill>
          <a:blip r:embed="rId3">
            <a:alphaModFix/>
          </a:blip>
          <a:stretch>
            <a:fillRect/>
          </a:stretch>
        </p:blipFill>
        <p:spPr>
          <a:xfrm>
            <a:off x="4653590" y="1853873"/>
            <a:ext cx="4390910" cy="322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727800" y="5622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 COMPARISON ANALYSIS (Continued)</a:t>
            </a:r>
            <a:endParaRPr/>
          </a:p>
          <a:p>
            <a:pPr indent="0" lvl="0" marL="0" rtl="0" algn="l">
              <a:spcBef>
                <a:spcPts val="0"/>
              </a:spcBef>
              <a:spcAft>
                <a:spcPts val="0"/>
              </a:spcAft>
              <a:buNone/>
            </a:pPr>
            <a:r>
              <a:t/>
            </a:r>
            <a:endParaRPr/>
          </a:p>
        </p:txBody>
      </p:sp>
      <p:sp>
        <p:nvSpPr>
          <p:cNvPr id="163" name="Google Shape;163;p26"/>
          <p:cNvSpPr txBox="1"/>
          <p:nvPr>
            <p:ph idx="1" type="body"/>
          </p:nvPr>
        </p:nvSpPr>
        <p:spPr>
          <a:xfrm>
            <a:off x="145825" y="1270750"/>
            <a:ext cx="4357800" cy="3780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1018"/>
              <a:buNone/>
            </a:pPr>
            <a:r>
              <a:rPr b="1" lang="en" sz="1403"/>
              <a:t>2. Code Complexity &amp; Parsing Robustness</a:t>
            </a:r>
            <a:endParaRPr b="1" sz="1403"/>
          </a:p>
          <a:p>
            <a:pPr indent="0" lvl="0" marL="0" rtl="0" algn="just">
              <a:spcBef>
                <a:spcPts val="1200"/>
              </a:spcBef>
              <a:spcAft>
                <a:spcPts val="0"/>
              </a:spcAft>
              <a:buSzPts val="1018"/>
              <a:buNone/>
            </a:pPr>
            <a:r>
              <a:rPr b="1" lang="en" sz="1403"/>
              <a:t>MapReduce</a:t>
            </a:r>
            <a:r>
              <a:rPr lang="en" sz="1403"/>
              <a:t>: High complexity and fragile. Implementing ”Schema-on-Read” required manually mapping indices and catching cast exceptions. Furthermore, using a naive .split(’,’) in Python caused the Mapper to silently drop rows where strings contained internal commas (e.g., location strings), resulting in massive data loss (recording only ∼$9.3M for Visa).</a:t>
            </a:r>
            <a:endParaRPr sz="1403"/>
          </a:p>
          <a:p>
            <a:pPr indent="0" lvl="0" marL="0" rtl="0" algn="just">
              <a:spcBef>
                <a:spcPts val="1200"/>
              </a:spcBef>
              <a:spcAft>
                <a:spcPts val="0"/>
              </a:spcAft>
              <a:buSzPts val="1018"/>
              <a:buNone/>
            </a:pPr>
            <a:r>
              <a:rPr b="1" lang="en" sz="1403"/>
              <a:t>Spark</a:t>
            </a:r>
            <a:r>
              <a:rPr lang="en" sz="1403"/>
              <a:t>: Low complexity and highly robust. PySpark abstracted the schema definition and utilized an enterprise-grade CSV parser that flawlessly handled complex text fields without data loss, correctly capturing the full $51.2M volume for Visa.</a:t>
            </a:r>
            <a:endParaRPr sz="1403"/>
          </a:p>
          <a:p>
            <a:pPr indent="0" lvl="0" marL="0" rtl="0" algn="just">
              <a:spcBef>
                <a:spcPts val="1200"/>
              </a:spcBef>
              <a:spcAft>
                <a:spcPts val="1200"/>
              </a:spcAft>
              <a:buSzPts val="1018"/>
              <a:buNone/>
            </a:pPr>
            <a:r>
              <a:t/>
            </a:r>
            <a:endParaRPr sz="1403"/>
          </a:p>
        </p:txBody>
      </p:sp>
      <p:sp>
        <p:nvSpPr>
          <p:cNvPr id="164" name="Google Shape;164;p26"/>
          <p:cNvSpPr txBox="1"/>
          <p:nvPr>
            <p:ph idx="2" type="body"/>
          </p:nvPr>
        </p:nvSpPr>
        <p:spPr>
          <a:xfrm>
            <a:off x="4643600" y="1270675"/>
            <a:ext cx="4171800" cy="3780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500"/>
              <a:t>3. </a:t>
            </a:r>
            <a:r>
              <a:rPr b="1" lang="en" sz="1500"/>
              <a:t>Processing Model</a:t>
            </a:r>
            <a:endParaRPr b="1" sz="1500"/>
          </a:p>
          <a:p>
            <a:pPr indent="0" lvl="0" marL="0" rtl="0" algn="just">
              <a:spcBef>
                <a:spcPts val="1200"/>
              </a:spcBef>
              <a:spcAft>
                <a:spcPts val="0"/>
              </a:spcAft>
              <a:buNone/>
            </a:pPr>
            <a:r>
              <a:rPr b="1" lang="en" sz="1500"/>
              <a:t>MapReduce </a:t>
            </a:r>
            <a:r>
              <a:rPr lang="en" sz="1500"/>
              <a:t>(Disk-Based): Required reading from HDFS, writing intermediate Map outputs to local disk, shuffling across the network, and writing final Reduce outputs back to HDFS.</a:t>
            </a:r>
            <a:endParaRPr sz="1500"/>
          </a:p>
          <a:p>
            <a:pPr indent="0" lvl="0" marL="0" rtl="0" algn="just">
              <a:spcBef>
                <a:spcPts val="1200"/>
              </a:spcBef>
              <a:spcAft>
                <a:spcPts val="0"/>
              </a:spcAft>
              <a:buNone/>
            </a:pPr>
            <a:r>
              <a:rPr b="1" lang="en" sz="1500"/>
              <a:t>Spark </a:t>
            </a:r>
            <a:r>
              <a:rPr lang="en" sz="1500"/>
              <a:t>(In-Memory): Built a Directed Acyclic Graph (DAG) of logical steps, executing the aggregation entirely in RAM before writing the final output.</a:t>
            </a:r>
            <a:endParaRPr sz="1500"/>
          </a:p>
          <a:p>
            <a:pPr indent="0" lvl="0" marL="0" rtl="0" algn="just">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7"/>
          <p:cNvSpPr txBox="1"/>
          <p:nvPr/>
        </p:nvSpPr>
        <p:spPr>
          <a:xfrm>
            <a:off x="723900" y="476250"/>
            <a:ext cx="76866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A1A1A"/>
                </a:solidFill>
                <a:latin typeface="Raleway"/>
                <a:ea typeface="Raleway"/>
                <a:cs typeface="Raleway"/>
                <a:sym typeface="Raleway"/>
              </a:rPr>
              <a:t>SUMMARY COMPARISON: MAPREDUCE VS. SPARK</a:t>
            </a:r>
            <a:endParaRPr b="1" sz="2400">
              <a:solidFill>
                <a:srgbClr val="1A1A1A"/>
              </a:solidFill>
              <a:latin typeface="Raleway"/>
              <a:ea typeface="Raleway"/>
              <a:cs typeface="Raleway"/>
              <a:sym typeface="Raleway"/>
            </a:endParaRPr>
          </a:p>
        </p:txBody>
      </p:sp>
      <p:sp>
        <p:nvSpPr>
          <p:cNvPr id="170" name="Google Shape;170;p27"/>
          <p:cNvSpPr/>
          <p:nvPr/>
        </p:nvSpPr>
        <p:spPr>
          <a:xfrm>
            <a:off x="381000" y="1238250"/>
            <a:ext cx="8382000" cy="3810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7"/>
          <p:cNvSpPr/>
          <p:nvPr/>
        </p:nvSpPr>
        <p:spPr>
          <a:xfrm>
            <a:off x="381000" y="1619250"/>
            <a:ext cx="8382000" cy="5238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7"/>
          <p:cNvSpPr/>
          <p:nvPr/>
        </p:nvSpPr>
        <p:spPr>
          <a:xfrm>
            <a:off x="381000" y="2143125"/>
            <a:ext cx="8382000" cy="4287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7"/>
          <p:cNvSpPr/>
          <p:nvPr/>
        </p:nvSpPr>
        <p:spPr>
          <a:xfrm>
            <a:off x="381000" y="2571750"/>
            <a:ext cx="8382000" cy="5238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7"/>
          <p:cNvSpPr/>
          <p:nvPr/>
        </p:nvSpPr>
        <p:spPr>
          <a:xfrm>
            <a:off x="381000" y="3095625"/>
            <a:ext cx="8382000" cy="523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7"/>
          <p:cNvSpPr/>
          <p:nvPr/>
        </p:nvSpPr>
        <p:spPr>
          <a:xfrm>
            <a:off x="381000" y="3619500"/>
            <a:ext cx="8382000" cy="5238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27"/>
          <p:cNvSpPr/>
          <p:nvPr/>
        </p:nvSpPr>
        <p:spPr>
          <a:xfrm>
            <a:off x="381000" y="4143375"/>
            <a:ext cx="8382000" cy="523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7" name="Google Shape;177;p27"/>
          <p:cNvPicPr preferRelativeResize="0"/>
          <p:nvPr/>
        </p:nvPicPr>
        <p:blipFill rotWithShape="1">
          <a:blip r:embed="rId3">
            <a:alphaModFix/>
          </a:blip>
          <a:srcRect b="0" l="0" r="0" t="0"/>
          <a:stretch/>
        </p:blipFill>
        <p:spPr>
          <a:xfrm>
            <a:off x="381000" y="1614488"/>
            <a:ext cx="8382000" cy="2533800"/>
          </a:xfrm>
          <a:prstGeom prst="rect">
            <a:avLst/>
          </a:prstGeom>
          <a:noFill/>
          <a:ln>
            <a:noFill/>
          </a:ln>
        </p:spPr>
      </p:pic>
      <p:sp>
        <p:nvSpPr>
          <p:cNvPr id="178" name="Google Shape;178;p27"/>
          <p:cNvSpPr txBox="1"/>
          <p:nvPr/>
        </p:nvSpPr>
        <p:spPr>
          <a:xfrm>
            <a:off x="476250" y="1238250"/>
            <a:ext cx="1333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Lato"/>
                <a:ea typeface="Lato"/>
                <a:cs typeface="Lato"/>
                <a:sym typeface="Lato"/>
              </a:rPr>
              <a:t>Criteria</a:t>
            </a:r>
            <a:endParaRPr b="1" sz="1100">
              <a:solidFill>
                <a:srgbClr val="FFFFFF"/>
              </a:solidFill>
              <a:latin typeface="Lato"/>
              <a:ea typeface="Lato"/>
              <a:cs typeface="Lato"/>
              <a:sym typeface="Lato"/>
            </a:endParaRPr>
          </a:p>
        </p:txBody>
      </p:sp>
      <p:sp>
        <p:nvSpPr>
          <p:cNvPr id="179" name="Google Shape;179;p27"/>
          <p:cNvSpPr txBox="1"/>
          <p:nvPr/>
        </p:nvSpPr>
        <p:spPr>
          <a:xfrm>
            <a:off x="1905000" y="123825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Lato"/>
                <a:ea typeface="Lato"/>
                <a:cs typeface="Lato"/>
                <a:sym typeface="Lato"/>
              </a:rPr>
              <a:t>Hadoop MapReduce</a:t>
            </a:r>
            <a:endParaRPr b="1" sz="1100">
              <a:solidFill>
                <a:srgbClr val="FFFFFF"/>
              </a:solidFill>
              <a:latin typeface="Lato"/>
              <a:ea typeface="Lato"/>
              <a:cs typeface="Lato"/>
              <a:sym typeface="Lato"/>
            </a:endParaRPr>
          </a:p>
        </p:txBody>
      </p:sp>
      <p:sp>
        <p:nvSpPr>
          <p:cNvPr id="180" name="Google Shape;180;p27"/>
          <p:cNvSpPr txBox="1"/>
          <p:nvPr/>
        </p:nvSpPr>
        <p:spPr>
          <a:xfrm>
            <a:off x="5334000" y="123825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Lato"/>
                <a:ea typeface="Lato"/>
                <a:cs typeface="Lato"/>
                <a:sym typeface="Lato"/>
              </a:rPr>
              <a:t>Apache Spark (PySpark)</a:t>
            </a:r>
            <a:endParaRPr b="1" sz="1100">
              <a:solidFill>
                <a:srgbClr val="FFFFFF"/>
              </a:solidFill>
              <a:latin typeface="Lato"/>
              <a:ea typeface="Lato"/>
              <a:cs typeface="Lato"/>
              <a:sym typeface="Lato"/>
            </a:endParaRPr>
          </a:p>
        </p:txBody>
      </p:sp>
      <p:sp>
        <p:nvSpPr>
          <p:cNvPr id="181" name="Google Shape;181;p27"/>
          <p:cNvSpPr txBox="1"/>
          <p:nvPr/>
        </p:nvSpPr>
        <p:spPr>
          <a:xfrm>
            <a:off x="476250" y="1619250"/>
            <a:ext cx="1333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Processing Model</a:t>
            </a:r>
            <a:endParaRPr b="1" sz="1000">
              <a:solidFill>
                <a:srgbClr val="1A9988"/>
              </a:solidFill>
              <a:latin typeface="Lato"/>
              <a:ea typeface="Lato"/>
              <a:cs typeface="Lato"/>
              <a:sym typeface="Lato"/>
            </a:endParaRPr>
          </a:p>
        </p:txBody>
      </p:sp>
      <p:sp>
        <p:nvSpPr>
          <p:cNvPr id="182" name="Google Shape;182;p27"/>
          <p:cNvSpPr txBox="1"/>
          <p:nvPr/>
        </p:nvSpPr>
        <p:spPr>
          <a:xfrm>
            <a:off x="1905000" y="161925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Disk-based (heavy I/O across Map, Shuffle, and Reduce phases).</a:t>
            </a:r>
            <a:endParaRPr b="0" sz="1000">
              <a:solidFill>
                <a:srgbClr val="595959"/>
              </a:solidFill>
              <a:latin typeface="Lato"/>
              <a:ea typeface="Lato"/>
              <a:cs typeface="Lato"/>
              <a:sym typeface="Lato"/>
            </a:endParaRPr>
          </a:p>
        </p:txBody>
      </p:sp>
      <p:sp>
        <p:nvSpPr>
          <p:cNvPr id="183" name="Google Shape;183;p27"/>
          <p:cNvSpPr txBox="1"/>
          <p:nvPr/>
        </p:nvSpPr>
        <p:spPr>
          <a:xfrm>
            <a:off x="5334000" y="161925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In-memory (builds a Directed Acyclic Graph for execution).</a:t>
            </a:r>
            <a:endParaRPr b="0" sz="1000">
              <a:solidFill>
                <a:srgbClr val="595959"/>
              </a:solidFill>
              <a:latin typeface="Lato"/>
              <a:ea typeface="Lato"/>
              <a:cs typeface="Lato"/>
              <a:sym typeface="Lato"/>
            </a:endParaRPr>
          </a:p>
        </p:txBody>
      </p:sp>
      <p:sp>
        <p:nvSpPr>
          <p:cNvPr id="184" name="Google Shape;184;p27"/>
          <p:cNvSpPr txBox="1"/>
          <p:nvPr/>
        </p:nvSpPr>
        <p:spPr>
          <a:xfrm>
            <a:off x="476250" y="2143125"/>
            <a:ext cx="1333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Execution Time</a:t>
            </a:r>
            <a:endParaRPr b="1" sz="1000">
              <a:solidFill>
                <a:srgbClr val="1A9988"/>
              </a:solidFill>
              <a:latin typeface="Lato"/>
              <a:ea typeface="Lato"/>
              <a:cs typeface="Lato"/>
              <a:sym typeface="Lato"/>
            </a:endParaRPr>
          </a:p>
        </p:txBody>
      </p:sp>
      <p:sp>
        <p:nvSpPr>
          <p:cNvPr id="185" name="Google Shape;185;p27"/>
          <p:cNvSpPr txBox="1"/>
          <p:nvPr/>
        </p:nvSpPr>
        <p:spPr>
          <a:xfrm>
            <a:off x="1905000" y="2143125"/>
            <a:ext cx="3238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154.00 seconds (2m 34s).</a:t>
            </a:r>
            <a:endParaRPr b="0" sz="1000">
              <a:solidFill>
                <a:srgbClr val="595959"/>
              </a:solidFill>
              <a:latin typeface="Lato"/>
              <a:ea typeface="Lato"/>
              <a:cs typeface="Lato"/>
              <a:sym typeface="Lato"/>
            </a:endParaRPr>
          </a:p>
        </p:txBody>
      </p:sp>
      <p:sp>
        <p:nvSpPr>
          <p:cNvPr id="186" name="Google Shape;186;p27"/>
          <p:cNvSpPr txBox="1"/>
          <p:nvPr/>
        </p:nvSpPr>
        <p:spPr>
          <a:xfrm>
            <a:off x="5334000" y="2143125"/>
            <a:ext cx="3238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24.47 seconds (~6.3x faster).</a:t>
            </a:r>
            <a:endParaRPr b="1" sz="1000">
              <a:solidFill>
                <a:srgbClr val="1A9988"/>
              </a:solidFill>
              <a:latin typeface="Lato"/>
              <a:ea typeface="Lato"/>
              <a:cs typeface="Lato"/>
              <a:sym typeface="Lato"/>
            </a:endParaRPr>
          </a:p>
        </p:txBody>
      </p:sp>
      <p:sp>
        <p:nvSpPr>
          <p:cNvPr id="187" name="Google Shape;187;p27"/>
          <p:cNvSpPr txBox="1"/>
          <p:nvPr/>
        </p:nvSpPr>
        <p:spPr>
          <a:xfrm>
            <a:off x="476250" y="2571750"/>
            <a:ext cx="1333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Code Complexity</a:t>
            </a:r>
            <a:endParaRPr b="1" sz="1000">
              <a:solidFill>
                <a:srgbClr val="1A9988"/>
              </a:solidFill>
              <a:latin typeface="Lato"/>
              <a:ea typeface="Lato"/>
              <a:cs typeface="Lato"/>
              <a:sym typeface="Lato"/>
            </a:endParaRPr>
          </a:p>
        </p:txBody>
      </p:sp>
      <p:sp>
        <p:nvSpPr>
          <p:cNvPr id="188" name="Google Shape;188;p27"/>
          <p:cNvSpPr txBox="1"/>
          <p:nvPr/>
        </p:nvSpPr>
        <p:spPr>
          <a:xfrm>
            <a:off x="1905000" y="257175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High. Requires separate Mapper/Reducer scripts and manual state tracking.</a:t>
            </a:r>
            <a:endParaRPr b="0" sz="1000">
              <a:solidFill>
                <a:srgbClr val="595959"/>
              </a:solidFill>
              <a:latin typeface="Lato"/>
              <a:ea typeface="Lato"/>
              <a:cs typeface="Lato"/>
              <a:sym typeface="Lato"/>
            </a:endParaRPr>
          </a:p>
        </p:txBody>
      </p:sp>
      <p:sp>
        <p:nvSpPr>
          <p:cNvPr id="189" name="Google Shape;189;p27"/>
          <p:cNvSpPr txBox="1"/>
          <p:nvPr/>
        </p:nvSpPr>
        <p:spPr>
          <a:xfrm>
            <a:off x="5334000" y="257175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Low. Abstracted via declarative DataFrame API in a single script.</a:t>
            </a:r>
            <a:endParaRPr b="0" sz="1000">
              <a:solidFill>
                <a:srgbClr val="595959"/>
              </a:solidFill>
              <a:latin typeface="Lato"/>
              <a:ea typeface="Lato"/>
              <a:cs typeface="Lato"/>
              <a:sym typeface="Lato"/>
            </a:endParaRPr>
          </a:p>
        </p:txBody>
      </p:sp>
      <p:sp>
        <p:nvSpPr>
          <p:cNvPr id="190" name="Google Shape;190;p27"/>
          <p:cNvSpPr txBox="1"/>
          <p:nvPr/>
        </p:nvSpPr>
        <p:spPr>
          <a:xfrm>
            <a:off x="476250" y="3095625"/>
            <a:ext cx="1333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Data Parsing</a:t>
            </a:r>
            <a:endParaRPr b="1" sz="1000">
              <a:solidFill>
                <a:srgbClr val="1A9988"/>
              </a:solidFill>
              <a:latin typeface="Lato"/>
              <a:ea typeface="Lato"/>
              <a:cs typeface="Lato"/>
              <a:sym typeface="Lato"/>
            </a:endParaRPr>
          </a:p>
        </p:txBody>
      </p:sp>
      <p:sp>
        <p:nvSpPr>
          <p:cNvPr id="191" name="Google Shape;191;p27"/>
          <p:cNvSpPr txBox="1"/>
          <p:nvPr/>
        </p:nvSpPr>
        <p:spPr>
          <a:xfrm>
            <a:off x="1905000" y="3095625"/>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Fragile. Naive string splitting (.split(',')) failed on complex text fields.</a:t>
            </a:r>
            <a:endParaRPr b="0" sz="1000">
              <a:solidFill>
                <a:srgbClr val="595959"/>
              </a:solidFill>
              <a:latin typeface="Lato"/>
              <a:ea typeface="Lato"/>
              <a:cs typeface="Lato"/>
              <a:sym typeface="Lato"/>
            </a:endParaRPr>
          </a:p>
        </p:txBody>
      </p:sp>
      <p:sp>
        <p:nvSpPr>
          <p:cNvPr id="192" name="Google Shape;192;p27"/>
          <p:cNvSpPr txBox="1"/>
          <p:nvPr/>
        </p:nvSpPr>
        <p:spPr>
          <a:xfrm>
            <a:off x="5334000" y="3095625"/>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Highly Robust. Native enterprise parser automatically inferred schema.</a:t>
            </a:r>
            <a:endParaRPr b="0" sz="1000">
              <a:solidFill>
                <a:srgbClr val="595959"/>
              </a:solidFill>
              <a:latin typeface="Lato"/>
              <a:ea typeface="Lato"/>
              <a:cs typeface="Lato"/>
              <a:sym typeface="Lato"/>
            </a:endParaRPr>
          </a:p>
        </p:txBody>
      </p:sp>
      <p:sp>
        <p:nvSpPr>
          <p:cNvPr id="193" name="Google Shape;193;p27"/>
          <p:cNvSpPr txBox="1"/>
          <p:nvPr/>
        </p:nvSpPr>
        <p:spPr>
          <a:xfrm>
            <a:off x="476250" y="3619500"/>
            <a:ext cx="1333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Data Fidelity</a:t>
            </a:r>
            <a:endParaRPr b="1" sz="1000">
              <a:solidFill>
                <a:srgbClr val="1A9988"/>
              </a:solidFill>
              <a:latin typeface="Lato"/>
              <a:ea typeface="Lato"/>
              <a:cs typeface="Lato"/>
              <a:sym typeface="Lato"/>
            </a:endParaRPr>
          </a:p>
        </p:txBody>
      </p:sp>
      <p:sp>
        <p:nvSpPr>
          <p:cNvPr id="194" name="Google Shape;194;p27"/>
          <p:cNvSpPr txBox="1"/>
          <p:nvPr/>
        </p:nvSpPr>
        <p:spPr>
          <a:xfrm>
            <a:off x="1905000" y="361950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Significant loss. Unhandled parsing errors forced Mapper to drop rows.</a:t>
            </a:r>
            <a:endParaRPr b="0" sz="1000">
              <a:solidFill>
                <a:srgbClr val="595959"/>
              </a:solidFill>
              <a:latin typeface="Lato"/>
              <a:ea typeface="Lato"/>
              <a:cs typeface="Lato"/>
              <a:sym typeface="Lato"/>
            </a:endParaRPr>
          </a:p>
        </p:txBody>
      </p:sp>
      <p:sp>
        <p:nvSpPr>
          <p:cNvPr id="195" name="Google Shape;195;p27"/>
          <p:cNvSpPr txBox="1"/>
          <p:nvPr/>
        </p:nvSpPr>
        <p:spPr>
          <a:xfrm>
            <a:off x="5334000" y="3619500"/>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100% fidelity. Successfully captured entire $51.2M Visa volume.</a:t>
            </a:r>
            <a:endParaRPr b="0" sz="1000">
              <a:solidFill>
                <a:srgbClr val="595959"/>
              </a:solidFill>
              <a:latin typeface="Lato"/>
              <a:ea typeface="Lato"/>
              <a:cs typeface="Lato"/>
              <a:sym typeface="Lato"/>
            </a:endParaRPr>
          </a:p>
        </p:txBody>
      </p:sp>
      <p:sp>
        <p:nvSpPr>
          <p:cNvPr id="196" name="Google Shape;196;p27"/>
          <p:cNvSpPr txBox="1"/>
          <p:nvPr/>
        </p:nvSpPr>
        <p:spPr>
          <a:xfrm>
            <a:off x="476250" y="4143375"/>
            <a:ext cx="1333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A9988"/>
                </a:solidFill>
                <a:latin typeface="Lato"/>
                <a:ea typeface="Lato"/>
                <a:cs typeface="Lato"/>
                <a:sym typeface="Lato"/>
              </a:rPr>
              <a:t>Fault Tolerance</a:t>
            </a:r>
            <a:endParaRPr b="1" sz="1000">
              <a:solidFill>
                <a:srgbClr val="1A9988"/>
              </a:solidFill>
              <a:latin typeface="Lato"/>
              <a:ea typeface="Lato"/>
              <a:cs typeface="Lato"/>
              <a:sym typeface="Lato"/>
            </a:endParaRPr>
          </a:p>
        </p:txBody>
      </p:sp>
      <p:sp>
        <p:nvSpPr>
          <p:cNvPr id="197" name="Google Shape;197;p27"/>
          <p:cNvSpPr txBox="1"/>
          <p:nvPr/>
        </p:nvSpPr>
        <p:spPr>
          <a:xfrm>
            <a:off x="1905000" y="4143375"/>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Excellent. YARN caught shuffle timeouts and restarted tasks.</a:t>
            </a:r>
            <a:endParaRPr b="0" sz="1000">
              <a:solidFill>
                <a:srgbClr val="595959"/>
              </a:solidFill>
              <a:latin typeface="Lato"/>
              <a:ea typeface="Lato"/>
              <a:cs typeface="Lato"/>
              <a:sym typeface="Lato"/>
            </a:endParaRPr>
          </a:p>
        </p:txBody>
      </p:sp>
      <p:sp>
        <p:nvSpPr>
          <p:cNvPr id="198" name="Google Shape;198;p27"/>
          <p:cNvSpPr txBox="1"/>
          <p:nvPr/>
        </p:nvSpPr>
        <p:spPr>
          <a:xfrm>
            <a:off x="5334000" y="4143375"/>
            <a:ext cx="3238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595959"/>
                </a:solidFill>
                <a:latin typeface="Lato"/>
                <a:ea typeface="Lato"/>
                <a:cs typeface="Lato"/>
                <a:sym typeface="Lato"/>
              </a:rPr>
              <a:t>Excellent. RDDs allow for seamless recovery via lineage graphs.</a:t>
            </a:r>
            <a:endParaRPr b="0" sz="1000">
              <a:solidFill>
                <a:srgbClr val="595959"/>
              </a:solidFill>
              <a:latin typeface="Lato"/>
              <a:ea typeface="Lato"/>
              <a:cs typeface="Lato"/>
              <a:sym typeface="Lato"/>
            </a:endParaRPr>
          </a:p>
        </p:txBody>
      </p:sp>
      <p:sp>
        <p:nvSpPr>
          <p:cNvPr id="199" name="Google Shape;199;p27"/>
          <p:cNvSpPr txBox="1"/>
          <p:nvPr/>
        </p:nvSpPr>
        <p:spPr>
          <a:xfrm>
            <a:off x="723900" y="4714875"/>
            <a:ext cx="7696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00">
                <a:solidFill>
                  <a:srgbClr val="595959"/>
                </a:solidFill>
                <a:latin typeface="Lato"/>
                <a:ea typeface="Lato"/>
                <a:cs typeface="Lato"/>
                <a:sym typeface="Lato"/>
              </a:rPr>
              <a:t>Table 1: Framework Comparison: Hadoop MapReduce vs. Apache Spark</a:t>
            </a:r>
            <a:endParaRPr b="0" i="1" sz="1000">
              <a:solidFill>
                <a:srgbClr val="595959"/>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8"/>
          <p:cNvSpPr txBox="1"/>
          <p:nvPr/>
        </p:nvSpPr>
        <p:spPr>
          <a:xfrm>
            <a:off x="571500" y="1005825"/>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1" lang="en" sz="2600">
                <a:solidFill>
                  <a:srgbClr val="1A1A1A"/>
                </a:solidFill>
                <a:latin typeface="Raleway"/>
                <a:ea typeface="Raleway"/>
                <a:cs typeface="Raleway"/>
                <a:sym typeface="Raleway"/>
              </a:rPr>
              <a:t>VII. FINAL INSIGHTS</a:t>
            </a:r>
            <a:endParaRPr b="1" sz="2600">
              <a:solidFill>
                <a:srgbClr val="1A1A1A"/>
              </a:solidFill>
              <a:latin typeface="Raleway"/>
              <a:ea typeface="Raleway"/>
              <a:cs typeface="Raleway"/>
              <a:sym typeface="Raleway"/>
            </a:endParaRPr>
          </a:p>
        </p:txBody>
      </p:sp>
      <p:sp>
        <p:nvSpPr>
          <p:cNvPr id="205" name="Google Shape;205;p28"/>
          <p:cNvSpPr/>
          <p:nvPr/>
        </p:nvSpPr>
        <p:spPr>
          <a:xfrm>
            <a:off x="381000" y="2000250"/>
            <a:ext cx="4095900" cy="2667000"/>
          </a:xfrm>
          <a:prstGeom prst="roundRect">
            <a:avLst>
              <a:gd fmla="val 1428" name="adj"/>
            </a:avLst>
          </a:prstGeom>
          <a:solidFill>
            <a:srgbClr val="F8F9FA"/>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8"/>
          <p:cNvSpPr/>
          <p:nvPr/>
        </p:nvSpPr>
        <p:spPr>
          <a:xfrm>
            <a:off x="381000" y="2000250"/>
            <a:ext cx="4095900" cy="381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28"/>
          <p:cNvSpPr txBox="1"/>
          <p:nvPr/>
        </p:nvSpPr>
        <p:spPr>
          <a:xfrm>
            <a:off x="571500" y="2190750"/>
            <a:ext cx="37149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1A9988"/>
                </a:solidFill>
                <a:latin typeface="Raleway"/>
                <a:ea typeface="Raleway"/>
                <a:cs typeface="Raleway"/>
                <a:sym typeface="Raleway"/>
              </a:rPr>
              <a:t>Business Insights</a:t>
            </a:r>
            <a:endParaRPr b="1" sz="1400">
              <a:solidFill>
                <a:srgbClr val="1A9988"/>
              </a:solidFill>
              <a:latin typeface="Raleway"/>
              <a:ea typeface="Raleway"/>
              <a:cs typeface="Raleway"/>
              <a:sym typeface="Raleway"/>
            </a:endParaRPr>
          </a:p>
          <a:p>
            <a:pPr indent="-304800" lvl="0" marL="457200" rtl="0" algn="l">
              <a:spcBef>
                <a:spcPts val="600"/>
              </a:spcBef>
              <a:spcAft>
                <a:spcPts val="0"/>
              </a:spcAft>
              <a:buClr>
                <a:srgbClr val="595959"/>
              </a:buClr>
              <a:buSzPts val="1200"/>
              <a:buFont typeface="Lato"/>
              <a:buChar char="●"/>
            </a:pPr>
            <a:r>
              <a:rPr b="1" lang="en" sz="1200">
                <a:solidFill>
                  <a:srgbClr val="1A1A1A"/>
                </a:solidFill>
                <a:latin typeface="Lato"/>
                <a:ea typeface="Lato"/>
                <a:cs typeface="Lato"/>
                <a:sym typeface="Lato"/>
              </a:rPr>
              <a:t>Volume vs. Risk:</a:t>
            </a:r>
            <a:r>
              <a:rPr b="0" lang="en" sz="1200">
                <a:solidFill>
                  <a:srgbClr val="595959"/>
                </a:solidFill>
                <a:latin typeface="Lato"/>
                <a:ea typeface="Lato"/>
                <a:cs typeface="Lato"/>
                <a:sym typeface="Lato"/>
              </a:rPr>
              <a:t> Visa/Mastercard dominate with ~3.4% fraud rate, but </a:t>
            </a:r>
            <a:r>
              <a:rPr b="1" lang="en" sz="1200">
                <a:solidFill>
                  <a:srgbClr val="EB5600"/>
                </a:solidFill>
                <a:latin typeface="Lato"/>
                <a:ea typeface="Lato"/>
                <a:cs typeface="Lato"/>
                <a:sym typeface="Lato"/>
              </a:rPr>
              <a:t>Discover presented a 7.73% anomaly.</a:t>
            </a:r>
            <a:endParaRPr b="0" sz="1200">
              <a:solidFill>
                <a:srgbClr val="595959"/>
              </a:solidFill>
              <a:latin typeface="Lato"/>
              <a:ea typeface="Lato"/>
              <a:cs typeface="Lato"/>
              <a:sym typeface="Lato"/>
            </a:endParaRPr>
          </a:p>
          <a:p>
            <a:pPr indent="-304800" lvl="0" marL="457200" rtl="0" algn="l">
              <a:spcBef>
                <a:spcPts val="600"/>
              </a:spcBef>
              <a:spcAft>
                <a:spcPts val="600"/>
              </a:spcAft>
              <a:buClr>
                <a:srgbClr val="595959"/>
              </a:buClr>
              <a:buSzPts val="1200"/>
              <a:buFont typeface="Lato"/>
              <a:buChar char="●"/>
            </a:pPr>
            <a:r>
              <a:rPr b="1" lang="en" sz="1200">
                <a:solidFill>
                  <a:srgbClr val="1A1A1A"/>
                </a:solidFill>
                <a:latin typeface="Lato"/>
                <a:ea typeface="Lato"/>
                <a:cs typeface="Lato"/>
                <a:sym typeface="Lato"/>
              </a:rPr>
              <a:t>The Cost of "Dirty Data":</a:t>
            </a:r>
            <a:r>
              <a:rPr b="0" lang="en" sz="1200">
                <a:solidFill>
                  <a:srgbClr val="595959"/>
                </a:solidFill>
                <a:latin typeface="Lato"/>
                <a:ea typeface="Lato"/>
                <a:cs typeface="Lato"/>
                <a:sym typeface="Lato"/>
              </a:rPr>
              <a:t> MapReduce's lack of a sophisticated parser led to </a:t>
            </a:r>
            <a:r>
              <a:rPr b="1" lang="en" sz="1200">
                <a:solidFill>
                  <a:srgbClr val="1A1A1A"/>
                </a:solidFill>
                <a:latin typeface="Lato"/>
                <a:ea typeface="Lato"/>
                <a:cs typeface="Lato"/>
                <a:sym typeface="Lato"/>
              </a:rPr>
              <a:t>substantial record drops</a:t>
            </a:r>
            <a:r>
              <a:rPr b="0" lang="en" sz="1200">
                <a:solidFill>
                  <a:srgbClr val="595959"/>
                </a:solidFill>
                <a:latin typeface="Lato"/>
                <a:ea typeface="Lato"/>
                <a:cs typeface="Lato"/>
                <a:sym typeface="Lato"/>
              </a:rPr>
              <a:t> compared to Spark, highlighting a critical data engineering lesson.</a:t>
            </a:r>
            <a:endParaRPr b="0" sz="1200">
              <a:solidFill>
                <a:srgbClr val="595959"/>
              </a:solidFill>
              <a:latin typeface="Lato"/>
              <a:ea typeface="Lato"/>
              <a:cs typeface="Lato"/>
              <a:sym typeface="Lato"/>
            </a:endParaRPr>
          </a:p>
        </p:txBody>
      </p:sp>
      <p:sp>
        <p:nvSpPr>
          <p:cNvPr id="208" name="Google Shape;208;p28"/>
          <p:cNvSpPr/>
          <p:nvPr/>
        </p:nvSpPr>
        <p:spPr>
          <a:xfrm>
            <a:off x="4667250" y="2000250"/>
            <a:ext cx="4095900" cy="2667000"/>
          </a:xfrm>
          <a:prstGeom prst="roundRect">
            <a:avLst>
              <a:gd fmla="val 1428" name="adj"/>
            </a:avLst>
          </a:prstGeom>
          <a:solidFill>
            <a:srgbClr val="F8F9FA"/>
          </a:solidFill>
          <a:ln cap="flat" cmpd="sng" w="9525">
            <a:solidFill>
              <a:srgbClr val="E9ED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8"/>
          <p:cNvSpPr/>
          <p:nvPr/>
        </p:nvSpPr>
        <p:spPr>
          <a:xfrm>
            <a:off x="4667250" y="2000250"/>
            <a:ext cx="4095900" cy="381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8"/>
          <p:cNvSpPr txBox="1"/>
          <p:nvPr/>
        </p:nvSpPr>
        <p:spPr>
          <a:xfrm>
            <a:off x="4857750" y="2190750"/>
            <a:ext cx="37149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EB5600"/>
                </a:solidFill>
                <a:latin typeface="Raleway"/>
                <a:ea typeface="Raleway"/>
                <a:cs typeface="Raleway"/>
                <a:sym typeface="Raleway"/>
              </a:rPr>
              <a:t>Architectural Recommendations</a:t>
            </a:r>
            <a:endParaRPr b="1" sz="1400">
              <a:solidFill>
                <a:srgbClr val="EB5600"/>
              </a:solidFill>
              <a:latin typeface="Raleway"/>
              <a:ea typeface="Raleway"/>
              <a:cs typeface="Raleway"/>
              <a:sym typeface="Raleway"/>
            </a:endParaRPr>
          </a:p>
          <a:p>
            <a:pPr indent="0" lvl="0" marL="0" rtl="0" algn="l">
              <a:spcBef>
                <a:spcPts val="600"/>
              </a:spcBef>
              <a:spcAft>
                <a:spcPts val="0"/>
              </a:spcAft>
              <a:buNone/>
            </a:pPr>
            <a:r>
              <a:rPr b="1" lang="en" sz="1200">
                <a:solidFill>
                  <a:srgbClr val="1A1A1A"/>
                </a:solidFill>
                <a:latin typeface="Lato"/>
                <a:ea typeface="Lato"/>
                <a:cs typeface="Lato"/>
                <a:sym typeface="Lato"/>
              </a:rPr>
              <a:t>1. Use Spark for:</a:t>
            </a:r>
            <a:r>
              <a:rPr b="0" lang="en" sz="1200">
                <a:solidFill>
                  <a:srgbClr val="595959"/>
                </a:solidFill>
                <a:latin typeface="Lato"/>
                <a:ea typeface="Lato"/>
                <a:cs typeface="Lato"/>
                <a:sym typeface="Lato"/>
              </a:rPr>
              <a:t> Modern ETL and iterative aggregations. Provided </a:t>
            </a:r>
            <a:r>
              <a:rPr b="1" lang="en" sz="1200">
                <a:solidFill>
                  <a:srgbClr val="EB5600"/>
                </a:solidFill>
                <a:latin typeface="Lato"/>
                <a:ea typeface="Lato"/>
                <a:cs typeface="Lato"/>
                <a:sym typeface="Lato"/>
              </a:rPr>
              <a:t>6.3x performance gain</a:t>
            </a:r>
            <a:r>
              <a:rPr b="0" lang="en" sz="1200">
                <a:solidFill>
                  <a:srgbClr val="595959"/>
                </a:solidFill>
                <a:latin typeface="Lato"/>
                <a:ea typeface="Lato"/>
                <a:cs typeface="Lato"/>
                <a:sym typeface="Lato"/>
              </a:rPr>
              <a:t> and 100% data fidelity.</a:t>
            </a:r>
            <a:endParaRPr b="0" sz="1200">
              <a:solidFill>
                <a:srgbClr val="595959"/>
              </a:solidFill>
              <a:latin typeface="Lato"/>
              <a:ea typeface="Lato"/>
              <a:cs typeface="Lato"/>
              <a:sym typeface="Lato"/>
            </a:endParaRPr>
          </a:p>
          <a:p>
            <a:pPr indent="0" lvl="0" marL="0" rtl="0" algn="l">
              <a:spcBef>
                <a:spcPts val="900"/>
              </a:spcBef>
              <a:spcAft>
                <a:spcPts val="600"/>
              </a:spcAft>
              <a:buNone/>
            </a:pPr>
            <a:r>
              <a:rPr b="1" lang="en" sz="1200">
                <a:solidFill>
                  <a:srgbClr val="1A1A1A"/>
                </a:solidFill>
                <a:latin typeface="Lato"/>
                <a:ea typeface="Lato"/>
                <a:cs typeface="Lato"/>
                <a:sym typeface="Lato"/>
              </a:rPr>
              <a:t>2. Use MapReduce for:</a:t>
            </a:r>
            <a:r>
              <a:rPr b="0" lang="en" sz="1200">
                <a:solidFill>
                  <a:srgbClr val="595959"/>
                </a:solidFill>
                <a:latin typeface="Lato"/>
                <a:ea typeface="Lato"/>
                <a:cs typeface="Lato"/>
                <a:sym typeface="Lato"/>
              </a:rPr>
              <a:t> Massive batch jobs exceeding RAM or specialized unstructured data where </a:t>
            </a:r>
            <a:r>
              <a:rPr b="1" lang="en" sz="1200">
                <a:solidFill>
                  <a:srgbClr val="1A1A1A"/>
                </a:solidFill>
                <a:latin typeface="Lato"/>
                <a:ea typeface="Lato"/>
                <a:cs typeface="Lato"/>
                <a:sym typeface="Lato"/>
              </a:rPr>
              <a:t>custom Python mappers</a:t>
            </a:r>
            <a:r>
              <a:rPr b="0" lang="en" sz="1200">
                <a:solidFill>
                  <a:srgbClr val="595959"/>
                </a:solidFill>
                <a:latin typeface="Lato"/>
                <a:ea typeface="Lato"/>
                <a:cs typeface="Lato"/>
                <a:sym typeface="Lato"/>
              </a:rPr>
              <a:t> excel.</a:t>
            </a:r>
            <a:endParaRPr b="0" sz="1200">
              <a:solidFill>
                <a:srgbClr val="595959"/>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p:nvPr/>
        </p:nvSpPr>
        <p:spPr>
          <a:xfrm>
            <a:off x="0" y="0"/>
            <a:ext cx="9144000" cy="4878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9"/>
          <p:cNvSpPr txBox="1"/>
          <p:nvPr/>
        </p:nvSpPr>
        <p:spPr>
          <a:xfrm>
            <a:off x="571500" y="133350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800">
                <a:solidFill>
                  <a:srgbClr val="1A1A1A"/>
                </a:solidFill>
                <a:latin typeface="Raleway"/>
                <a:ea typeface="Raleway"/>
                <a:cs typeface="Raleway"/>
                <a:sym typeface="Raleway"/>
              </a:rPr>
              <a:t>THANK YOU</a:t>
            </a:r>
            <a:endParaRPr b="1" sz="4800">
              <a:solidFill>
                <a:srgbClr val="1A1A1A"/>
              </a:solidFill>
              <a:latin typeface="Raleway"/>
              <a:ea typeface="Raleway"/>
              <a:cs typeface="Raleway"/>
              <a:sym typeface="Raleway"/>
            </a:endParaRPr>
          </a:p>
        </p:txBody>
      </p:sp>
      <p:sp>
        <p:nvSpPr>
          <p:cNvPr id="216" name="Google Shape;216;p29"/>
          <p:cNvSpPr txBox="1"/>
          <p:nvPr/>
        </p:nvSpPr>
        <p:spPr>
          <a:xfrm>
            <a:off x="571500" y="228600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595959"/>
                </a:solidFill>
                <a:latin typeface="Lato"/>
                <a:ea typeface="Lato"/>
                <a:cs typeface="Lato"/>
                <a:sym typeface="Lato"/>
              </a:rPr>
              <a:t>Comparative Study: Hadoop MapReduce vs. Apache Spark</a:t>
            </a:r>
            <a:endParaRPr b="0" sz="1800">
              <a:solidFill>
                <a:srgbClr val="595959"/>
              </a:solidFill>
              <a:latin typeface="Lato"/>
              <a:ea typeface="Lato"/>
              <a:cs typeface="Lato"/>
              <a:sym typeface="Lato"/>
            </a:endParaRPr>
          </a:p>
        </p:txBody>
      </p:sp>
      <p:pic>
        <p:nvPicPr>
          <p:cNvPr id="217" name="Google Shape;217;p29" title="Github Repository.png"/>
          <p:cNvPicPr preferRelativeResize="0"/>
          <p:nvPr/>
        </p:nvPicPr>
        <p:blipFill>
          <a:blip r:embed="rId3">
            <a:alphaModFix/>
          </a:blip>
          <a:stretch>
            <a:fillRect/>
          </a:stretch>
        </p:blipFill>
        <p:spPr>
          <a:xfrm>
            <a:off x="4914900" y="640200"/>
            <a:ext cx="4076700" cy="4076700"/>
          </a:xfrm>
          <a:prstGeom prst="rect">
            <a:avLst/>
          </a:prstGeom>
          <a:noFill/>
          <a:ln>
            <a:noFill/>
          </a:ln>
        </p:spPr>
      </p:pic>
      <p:sp>
        <p:nvSpPr>
          <p:cNvPr id="218" name="Google Shape;218;p29"/>
          <p:cNvSpPr/>
          <p:nvPr/>
        </p:nvSpPr>
        <p:spPr>
          <a:xfrm>
            <a:off x="5797350" y="4655700"/>
            <a:ext cx="23118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Github Repository</a:t>
            </a:r>
            <a:endParaRPr b="1">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